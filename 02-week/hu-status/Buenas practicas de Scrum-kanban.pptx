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ns Bold" charset="1" panose="020B0806030504020204"/>
      <p:regular r:id="rId11"/>
    </p:embeddedFont>
    <p:embeddedFont>
      <p:font typeface="Open Sans" charset="1" panose="020B0606030504020204"/>
      <p:regular r:id="rId12"/>
    </p:embeddedFont>
    <p:embeddedFont>
      <p:font typeface="Arimo" charset="1" panose="020B0604020202020204"/>
      <p:regular r:id="rId13"/>
    </p:embeddedFont>
    <p:embeddedFont>
      <p:font typeface="Arimo Italics" charset="1" panose="020B060402020209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8811784" y="2019300"/>
            <a:ext cx="8447516" cy="5246370"/>
            <a:chOff x="0" y="0"/>
            <a:chExt cx="6357620" cy="39484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535940"/>
              <a:ext cx="63576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6357620">
                  <a:moveTo>
                    <a:pt x="0" y="0"/>
                  </a:moveTo>
                  <a:lnTo>
                    <a:pt x="6357620" y="0"/>
                  </a:lnTo>
                  <a:lnTo>
                    <a:pt x="635762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91" r="0" b="-791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8890" cy="3948430"/>
            </a:xfrm>
            <a:custGeom>
              <a:avLst/>
              <a:gdLst/>
              <a:ahLst/>
              <a:cxnLst/>
              <a:rect r="r" b="b" t="t" l="l"/>
              <a:pathLst>
                <a:path h="3948430" w="6358890">
                  <a:moveTo>
                    <a:pt x="635762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948430"/>
                  </a:lnTo>
                  <a:lnTo>
                    <a:pt x="6060440" y="3948430"/>
                  </a:lnTo>
                  <a:lnTo>
                    <a:pt x="6358890" y="3948430"/>
                  </a:lnTo>
                  <a:lnTo>
                    <a:pt x="6358890" y="3948430"/>
                  </a:lnTo>
                  <a:lnTo>
                    <a:pt x="6357620" y="0"/>
                  </a:lnTo>
                  <a:lnTo>
                    <a:pt x="6357620" y="0"/>
                  </a:lnTo>
                  <a:close/>
                  <a:moveTo>
                    <a:pt x="6111240" y="3897630"/>
                  </a:moveTo>
                  <a:lnTo>
                    <a:pt x="6111240" y="2863850"/>
                  </a:lnTo>
                  <a:lnTo>
                    <a:pt x="6308090" y="2863850"/>
                  </a:lnTo>
                  <a:lnTo>
                    <a:pt x="6308090" y="3897630"/>
                  </a:lnTo>
                  <a:lnTo>
                    <a:pt x="6111240" y="3897630"/>
                  </a:lnTo>
                  <a:close/>
                  <a:moveTo>
                    <a:pt x="6306820" y="2141220"/>
                  </a:moveTo>
                  <a:lnTo>
                    <a:pt x="6109970" y="2141220"/>
                  </a:lnTo>
                  <a:lnTo>
                    <a:pt x="6109970" y="535940"/>
                  </a:lnTo>
                  <a:lnTo>
                    <a:pt x="6306820" y="535940"/>
                  </a:lnTo>
                  <a:lnTo>
                    <a:pt x="6306820" y="2141220"/>
                  </a:lnTo>
                  <a:close/>
                  <a:moveTo>
                    <a:pt x="6060440" y="2141220"/>
                  </a:moveTo>
                  <a:lnTo>
                    <a:pt x="6060440" y="2865120"/>
                  </a:lnTo>
                  <a:lnTo>
                    <a:pt x="6060440" y="3898900"/>
                  </a:lnTo>
                  <a:lnTo>
                    <a:pt x="50800" y="3898900"/>
                  </a:lnTo>
                  <a:lnTo>
                    <a:pt x="50800" y="535940"/>
                  </a:lnTo>
                  <a:lnTo>
                    <a:pt x="6060440" y="535940"/>
                  </a:lnTo>
                  <a:lnTo>
                    <a:pt x="6060440" y="2141220"/>
                  </a:lnTo>
                  <a:close/>
                </a:path>
              </a:pathLst>
            </a:custGeom>
            <a:solidFill>
              <a:srgbClr val="3954A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98120" y="100330"/>
              <a:ext cx="6109970" cy="3798570"/>
            </a:xfrm>
            <a:custGeom>
              <a:avLst/>
              <a:gdLst/>
              <a:ahLst/>
              <a:cxnLst/>
              <a:rect r="r" b="b" t="t" l="l"/>
              <a:pathLst>
                <a:path h="3798570" w="6109970">
                  <a:moveTo>
                    <a:pt x="5913120" y="2764790"/>
                  </a:moveTo>
                  <a:lnTo>
                    <a:pt x="6109970" y="2764790"/>
                  </a:lnTo>
                  <a:lnTo>
                    <a:pt x="6109970" y="3798570"/>
                  </a:lnTo>
                  <a:lnTo>
                    <a:pt x="5913120" y="3798570"/>
                  </a:lnTo>
                  <a:lnTo>
                    <a:pt x="5913120" y="2764790"/>
                  </a:lnTo>
                  <a:close/>
                  <a:moveTo>
                    <a:pt x="5913120" y="435610"/>
                  </a:moveTo>
                  <a:lnTo>
                    <a:pt x="5913120" y="2040890"/>
                  </a:lnTo>
                  <a:lnTo>
                    <a:pt x="6109970" y="2040890"/>
                  </a:lnTo>
                  <a:lnTo>
                    <a:pt x="6109970" y="435610"/>
                  </a:lnTo>
                  <a:lnTo>
                    <a:pt x="5913120" y="435610"/>
                  </a:lnTo>
                  <a:close/>
                  <a:moveTo>
                    <a:pt x="115570" y="45720"/>
                  </a:moveTo>
                  <a:cubicBezTo>
                    <a:pt x="52070" y="45720"/>
                    <a:pt x="0" y="97790"/>
                    <a:pt x="0" y="161290"/>
                  </a:cubicBezTo>
                  <a:cubicBezTo>
                    <a:pt x="0" y="224790"/>
                    <a:pt x="52070" y="276860"/>
                    <a:pt x="115570" y="276860"/>
                  </a:cubicBezTo>
                  <a:cubicBezTo>
                    <a:pt x="179070" y="276860"/>
                    <a:pt x="231140" y="224790"/>
                    <a:pt x="231140" y="161290"/>
                  </a:cubicBezTo>
                  <a:cubicBezTo>
                    <a:pt x="231140" y="97790"/>
                    <a:pt x="180340" y="45720"/>
                    <a:pt x="115570" y="45720"/>
                  </a:cubicBezTo>
                  <a:close/>
                  <a:moveTo>
                    <a:pt x="427990" y="45720"/>
                  </a:moveTo>
                  <a:cubicBezTo>
                    <a:pt x="364490" y="45720"/>
                    <a:pt x="312420" y="97790"/>
                    <a:pt x="312420" y="161290"/>
                  </a:cubicBezTo>
                  <a:cubicBezTo>
                    <a:pt x="312420" y="224790"/>
                    <a:pt x="364490" y="276860"/>
                    <a:pt x="427990" y="276860"/>
                  </a:cubicBezTo>
                  <a:cubicBezTo>
                    <a:pt x="491490" y="276860"/>
                    <a:pt x="543560" y="224790"/>
                    <a:pt x="543560" y="161290"/>
                  </a:cubicBezTo>
                  <a:cubicBezTo>
                    <a:pt x="543560" y="97790"/>
                    <a:pt x="491490" y="45720"/>
                    <a:pt x="427990" y="45720"/>
                  </a:cubicBezTo>
                  <a:close/>
                  <a:moveTo>
                    <a:pt x="739140" y="45720"/>
                  </a:moveTo>
                  <a:cubicBezTo>
                    <a:pt x="675640" y="45720"/>
                    <a:pt x="623570" y="97790"/>
                    <a:pt x="623570" y="161290"/>
                  </a:cubicBezTo>
                  <a:cubicBezTo>
                    <a:pt x="623570" y="224790"/>
                    <a:pt x="675640" y="276860"/>
                    <a:pt x="739140" y="276860"/>
                  </a:cubicBezTo>
                  <a:cubicBezTo>
                    <a:pt x="802640" y="276860"/>
                    <a:pt x="854710" y="224790"/>
                    <a:pt x="854710" y="161290"/>
                  </a:cubicBezTo>
                  <a:cubicBezTo>
                    <a:pt x="854710" y="97790"/>
                    <a:pt x="803910" y="45720"/>
                    <a:pt x="739140" y="45720"/>
                  </a:cubicBezTo>
                  <a:close/>
                  <a:moveTo>
                    <a:pt x="5966460" y="242570"/>
                  </a:moveTo>
                  <a:lnTo>
                    <a:pt x="5866130" y="242570"/>
                  </a:lnTo>
                  <a:lnTo>
                    <a:pt x="6022340" y="86360"/>
                  </a:lnTo>
                  <a:lnTo>
                    <a:pt x="6022340" y="186690"/>
                  </a:lnTo>
                  <a:lnTo>
                    <a:pt x="6073140" y="186690"/>
                  </a:lnTo>
                  <a:lnTo>
                    <a:pt x="6073140" y="0"/>
                  </a:lnTo>
                  <a:lnTo>
                    <a:pt x="5885180" y="0"/>
                  </a:lnTo>
                  <a:lnTo>
                    <a:pt x="5885180" y="50800"/>
                  </a:lnTo>
                  <a:lnTo>
                    <a:pt x="5985510" y="50800"/>
                  </a:lnTo>
                  <a:lnTo>
                    <a:pt x="5829300" y="207010"/>
                  </a:lnTo>
                  <a:lnTo>
                    <a:pt x="5829300" y="106680"/>
                  </a:lnTo>
                  <a:lnTo>
                    <a:pt x="5778500" y="106680"/>
                  </a:lnTo>
                  <a:lnTo>
                    <a:pt x="5778500" y="293370"/>
                  </a:lnTo>
                  <a:lnTo>
                    <a:pt x="5966460" y="293370"/>
                  </a:lnTo>
                  <a:lnTo>
                    <a:pt x="5966460" y="2425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751167" y="914400"/>
            <a:ext cx="6673215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Buenas practicas </a:t>
            </a:r>
          </a:p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Scrum-kanban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2458" y="3715378"/>
            <a:ext cx="601063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Alejandro Ortiz Varagas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94"/>
            <a:ext cx="18280599" cy="10282836"/>
          </a:xfrm>
          <a:custGeom>
            <a:avLst/>
            <a:gdLst/>
            <a:ahLst/>
            <a:cxnLst/>
            <a:rect r="r" b="b" t="t" l="l"/>
            <a:pathLst>
              <a:path h="10282836" w="18280599">
                <a:moveTo>
                  <a:pt x="0" y="0"/>
                </a:moveTo>
                <a:lnTo>
                  <a:pt x="18280599" y="0"/>
                </a:lnTo>
                <a:lnTo>
                  <a:pt x="18280599" y="10282836"/>
                </a:lnTo>
                <a:lnTo>
                  <a:pt x="0" y="1028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11801"/>
            <a:ext cx="90728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eptos y Características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04283"/>
            <a:ext cx="1348549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Framework ágil estructurado en bloques de tiempo fijos (Sprints de 1 a 4 semanas)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entregar software funcional de forma incremental.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fijos: Product Owner, Scrum Master y Equipo de Desarrollo.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Eventos: Sprint Planning, Daily, Review y Retrospectiva.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Entregas: Al final de cada Sprint.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715310"/>
            <a:ext cx="1577447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Kanban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Método visual centrado en la gestión del flujo continuo de trabajo y la optimización de capacidad.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 r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les obligatorios: Se adapta a la estructura actual del equipo.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Límites de WIP: Restringe el trabajo en proceso (Work in Progress) para evitar cuellos de botella.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Entregas: Continuas (tan pronto como una funcionalidad se completa).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94"/>
            <a:ext cx="18280599" cy="10282836"/>
          </a:xfrm>
          <a:custGeom>
            <a:avLst/>
            <a:gdLst/>
            <a:ahLst/>
            <a:cxnLst/>
            <a:rect r="r" b="b" t="t" l="l"/>
            <a:pathLst>
              <a:path h="10282836" w="18280599">
                <a:moveTo>
                  <a:pt x="0" y="0"/>
                </a:moveTo>
                <a:lnTo>
                  <a:pt x="18280599" y="0"/>
                </a:lnTo>
                <a:lnTo>
                  <a:pt x="18280599" y="10282836"/>
                </a:lnTo>
                <a:lnTo>
                  <a:pt x="0" y="1028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462952" y="2466665"/>
          <a:ext cx="13354695" cy="6027777"/>
        </p:xfrm>
        <a:graphic>
          <a:graphicData uri="http://schemas.openxmlformats.org/drawingml/2006/table">
            <a:tbl>
              <a:tblPr/>
              <a:tblGrid>
                <a:gridCol w="4451565"/>
                <a:gridCol w="4451565"/>
                <a:gridCol w="4451565"/>
              </a:tblGrid>
              <a:tr h="7956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Criterio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Scrum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Kanban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6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Cadencia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Iteraciones fijas (Sprints)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Flujo continuo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19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Cambios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 se aceptan cambios a mitad del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 pueden añadir tareas si hay capacidad en el WIP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00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Roles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Definidos y prescriptivos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Flexibles, sin roles predeterminados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2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Métrica clave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Velocidad (</a:t>
                      </a:r>
                      <a:r>
                        <a:rPr lang="en-US" sz="18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Story Points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por Sprint)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Lead Time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y </a:t>
                      </a:r>
                      <a:r>
                        <a:rPr lang="en-US" sz="1800" i="true">
                          <a:solidFill>
                            <a:srgbClr val="000000"/>
                          </a:solidFill>
                          <a:latin typeface="Arimo Italics"/>
                          <a:ea typeface="Arimo Italics"/>
                          <a:cs typeface="Arimo Italics"/>
                          <a:sym typeface="Arimo Italics"/>
                        </a:rPr>
                        <a:t>Cycle Time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192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Uso ideal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Proyectos con metas claras a mediano plazo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Mantenimiento, soporte o desarrollo continuo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721650" y="1311801"/>
            <a:ext cx="56869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Diferencia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Clave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" y="151806"/>
            <a:ext cx="18280599" cy="10282836"/>
          </a:xfrm>
          <a:custGeom>
            <a:avLst/>
            <a:gdLst/>
            <a:ahLst/>
            <a:cxnLst/>
            <a:rect r="r" b="b" t="t" l="l"/>
            <a:pathLst>
              <a:path h="10282836" w="18280599">
                <a:moveTo>
                  <a:pt x="0" y="0"/>
                </a:moveTo>
                <a:lnTo>
                  <a:pt x="18280599" y="0"/>
                </a:lnTo>
                <a:lnTo>
                  <a:pt x="18280599" y="10282836"/>
                </a:lnTo>
                <a:lnTo>
                  <a:pt x="0" y="1028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3380" y="1223310"/>
            <a:ext cx="1043571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Buenas Prác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ticas para Software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60380"/>
            <a:ext cx="17006435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Sincronización del tablero: Reflejar el flujo real de desarrollo (Ej: To Do -&gt; In Dev -&gt; Code Review -&gt; Q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-&gt; Deploy).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Respetar los límites de WIP: Detener la entrada de nuevo código a desarrollo si la columna de Testing/QA está saturada.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Aprovechar Scrumban: Combinar las iteraciones y retrospectivas de Scrum con la flexibilidad de tableros y límites de WIP de Kanban si el equipo maneja desarrollo y bugs simultáneamente.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Dailies enfocadas: Centrar la reunión diaria en destrabar bloqueos del tablero en lugar de solo dar estatus individual.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Automatización de métricas: Utilizar herramientas como Jira o Azure DevOps para medir el tiempo de entrega basado en datos reales y no en estimaciones a ojo.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" y="151806"/>
            <a:ext cx="18280599" cy="10282836"/>
          </a:xfrm>
          <a:custGeom>
            <a:avLst/>
            <a:gdLst/>
            <a:ahLst/>
            <a:cxnLst/>
            <a:rect r="r" b="b" t="t" l="l"/>
            <a:pathLst>
              <a:path h="10282836" w="18280599">
                <a:moveTo>
                  <a:pt x="0" y="0"/>
                </a:moveTo>
                <a:lnTo>
                  <a:pt x="18280599" y="0"/>
                </a:lnTo>
                <a:lnTo>
                  <a:pt x="18280599" y="10282836"/>
                </a:lnTo>
                <a:lnTo>
                  <a:pt x="0" y="102828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44275" y="3922279"/>
            <a:ext cx="516874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 por 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DAHSZR1ilNU</dc:identifier>
  <dcterms:modified xsi:type="dcterms:W3CDTF">2011-08-01T06:04:30Z</dcterms:modified>
  <cp:revision>1</cp:revision>
  <dc:title>Buenas practicas de Scrum-kanban</dc:title>
</cp:coreProperties>
</file>